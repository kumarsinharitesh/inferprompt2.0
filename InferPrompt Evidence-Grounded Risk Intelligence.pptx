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Almarai Bold" charset="1" panose="00000000000000000000"/>
      <p:regular r:id="rId27"/>
    </p:embeddedFont>
    <p:embeddedFont>
      <p:font typeface="Almarai" charset="1" panose="00000000000000000000"/>
      <p:regular r:id="rId28"/>
    </p:embeddedFont>
    <p:embeddedFont>
      <p:font typeface="Times New Roman Bold" charset="1" panose="02020803070505020304"/>
      <p:regular r:id="rId29"/>
    </p:embeddedFont>
    <p:embeddedFont>
      <p:font typeface="Canva Sans Bold" charset="1" panose="020B0803030501040103"/>
      <p:regular r:id="rId30"/>
    </p:embeddedFont>
    <p:embeddedFont>
      <p:font typeface="Canva Sans" charset="1" panose="020B05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https://inferprompts.vercel.app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4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940" y="-491592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89" t="0" r="-8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44000" y="6196748"/>
            <a:ext cx="2564685" cy="3663835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89" t="0" r="-89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976625" y="4306703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90269" y="183779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1"/>
                </a:lnTo>
                <a:lnTo>
                  <a:pt x="0" y="1006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90269" y="1373277"/>
            <a:ext cx="811530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1"/>
              </a:lnSpc>
            </a:pPr>
            <a:r>
              <a:rPr lang="en-US" b="true" sz="3826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Almarai Bold"/>
                <a:ea typeface="Almarai Bold"/>
                <a:cs typeface="Almarai Bold"/>
                <a:sym typeface="Almarai Bold"/>
              </a:rPr>
              <a:t>RAZORPAY AI BUILDATHON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2934" y="6448501"/>
            <a:ext cx="8115300" cy="86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3"/>
              </a:lnSpc>
            </a:pPr>
            <a:r>
              <a:rPr lang="en-US" sz="1864" spc="28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Deterministic Evidence + Multi-LLM Analysis</a:t>
            </a:r>
          </a:p>
          <a:p>
            <a:pPr algn="l" marL="0" indent="0" lvl="0">
              <a:lnSpc>
                <a:spcPts val="2293"/>
              </a:lnSpc>
            </a:pPr>
            <a:r>
              <a:rPr lang="en-US" sz="1864" spc="28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Consensus + Reasoning Comparison</a:t>
            </a:r>
          </a:p>
          <a:p>
            <a:pPr algn="l" marL="0" indent="0" lvl="0">
              <a:lnSpc>
                <a:spcPts val="2293"/>
              </a:lnSpc>
            </a:pPr>
            <a:r>
              <a:rPr lang="en-US" sz="1864" spc="28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Presenter: Ritesh Kumar Sinha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2934" y="2822507"/>
            <a:ext cx="7231514" cy="11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57"/>
              </a:lnSpc>
            </a:pPr>
            <a:r>
              <a:rPr lang="en-US" b="true" sz="779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INFERPROMPT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2934" y="4455197"/>
            <a:ext cx="8115300" cy="1164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1"/>
              </a:lnSpc>
            </a:pPr>
            <a:r>
              <a:rPr lang="en-US" b="true" sz="38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EVIDENCE-GROUNDED MULTI-LLM PAYMENT RISK INTELLIGENCE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7397" y="8266325"/>
            <a:ext cx="8090837" cy="4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4"/>
              </a:lnSpc>
            </a:pPr>
            <a:r>
              <a:rPr lang="en-US" b="true" sz="2556" spc="39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Inferprompt live - </a:t>
            </a:r>
            <a:r>
              <a:rPr lang="en-US" b="true" sz="2556" spc="391" u="sng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9" tooltip="https://inferprompts.vercel.app"/>
              </a:rPr>
              <a:t>inferprompts.vercel.app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80583" y="3967239"/>
            <a:ext cx="1867358" cy="18673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034071"/>
            <a:ext cx="1867358" cy="186735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18952" y="4324621"/>
            <a:ext cx="1097622" cy="1057614"/>
          </a:xfrm>
          <a:custGeom>
            <a:avLst/>
            <a:gdLst/>
            <a:ahLst/>
            <a:cxnLst/>
            <a:rect r="r" b="b" t="t" l="l"/>
            <a:pathLst>
              <a:path h="1057614" w="1097622">
                <a:moveTo>
                  <a:pt x="0" y="0"/>
                </a:moveTo>
                <a:lnTo>
                  <a:pt x="1097622" y="0"/>
                </a:lnTo>
                <a:lnTo>
                  <a:pt x="1097622" y="1057614"/>
                </a:lnTo>
                <a:lnTo>
                  <a:pt x="0" y="1057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27656" y="4287153"/>
            <a:ext cx="1376024" cy="1240644"/>
          </a:xfrm>
          <a:custGeom>
            <a:avLst/>
            <a:gdLst/>
            <a:ahLst/>
            <a:cxnLst/>
            <a:rect r="r" b="b" t="t" l="l"/>
            <a:pathLst>
              <a:path h="1240644" w="1376024">
                <a:moveTo>
                  <a:pt x="0" y="0"/>
                </a:moveTo>
                <a:lnTo>
                  <a:pt x="1376024" y="0"/>
                </a:lnTo>
                <a:lnTo>
                  <a:pt x="1376024" y="1240644"/>
                </a:lnTo>
                <a:lnTo>
                  <a:pt x="0" y="1240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01730" t="0" r="-20173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544095" y="1183728"/>
            <a:ext cx="10752136" cy="66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10"/>
              </a:lnSpc>
            </a:pPr>
            <a:r>
              <a:rPr lang="en-US" b="true" sz="425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PROBLEM STATEMENT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44095" y="2656282"/>
            <a:ext cx="12019835" cy="569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82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CAN WE REALLY TRUST AN AI-GENERATED RISK DECISION?</a:t>
            </a:r>
          </a:p>
          <a:p>
            <a:pPr algn="l">
              <a:lnSpc>
                <a:spcPts val="4116"/>
              </a:lnSpc>
            </a:pPr>
          </a:p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Modern LLMs can analyze payment transactions, but t</a:t>
            </a: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HEY CAN ALSO:</a:t>
            </a:r>
          </a:p>
          <a:p>
            <a:pPr algn="l" marL="524273" indent="-262137" lvl="1">
              <a:lnSpc>
                <a:spcPts val="3351"/>
              </a:lnSpc>
              <a:spcBef>
                <a:spcPct val="0"/>
              </a:spcBef>
              <a:buFont typeface="Arial"/>
              <a:buChar char="•"/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MISINTERPRET MCC CODES</a:t>
            </a:r>
          </a:p>
          <a:p>
            <a:pPr algn="l" marL="524273" indent="-262137" lvl="1">
              <a:lnSpc>
                <a:spcPts val="3351"/>
              </a:lnSpc>
              <a:spcBef>
                <a:spcPct val="0"/>
              </a:spcBef>
              <a:buFont typeface="Arial"/>
              <a:buChar char="•"/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INVENT MERCHANT CHARACTERISTICS</a:t>
            </a:r>
          </a:p>
          <a:p>
            <a:pPr algn="l" marL="524273" indent="-262137" lvl="1">
              <a:lnSpc>
                <a:spcPts val="3351"/>
              </a:lnSpc>
              <a:spcBef>
                <a:spcPct val="0"/>
              </a:spcBef>
              <a:buFont typeface="Arial"/>
              <a:buChar char="•"/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CONTRADICT ACTUAL TRANSACTION FIELDS</a:t>
            </a:r>
          </a:p>
          <a:p>
            <a:pPr algn="l" marL="524273" indent="-262137" lvl="1">
              <a:lnSpc>
                <a:spcPts val="3351"/>
              </a:lnSpc>
              <a:spcBef>
                <a:spcPct val="0"/>
              </a:spcBef>
              <a:buFont typeface="Arial"/>
              <a:buChar char="•"/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PRODUCE INCONSISTENT RISK SCORES</a:t>
            </a:r>
          </a:p>
          <a:p>
            <a:pPr algn="l" marL="524273" indent="-262137" lvl="1">
              <a:lnSpc>
                <a:spcPts val="3351"/>
              </a:lnSpc>
              <a:spcBef>
                <a:spcPct val="0"/>
              </a:spcBef>
              <a:buFont typeface="Arial"/>
              <a:buChar char="•"/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GIVE DIFFERENT RECOMMENDATIONS FOR THE SAME TRANSACTION</a:t>
            </a:r>
          </a:p>
          <a:p>
            <a:pPr algn="l" marL="524273" indent="-262137" lvl="1">
              <a:lnSpc>
                <a:spcPts val="3351"/>
              </a:lnSpc>
              <a:spcBef>
                <a:spcPct val="0"/>
              </a:spcBef>
              <a:buFont typeface="Arial"/>
              <a:buChar char="•"/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PROVIDE REASONING THAT IS DIFFICULT TO COMPARE OBJECTIVELY</a:t>
            </a:r>
          </a:p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THE CORE PROBLEM</a:t>
            </a:r>
          </a:p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sz="242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AN LLM SHOULD PROVIDE AN OPINION — NOT BLINDLY BECOME THE SOURCE OF TRUTH.</a:t>
            </a:r>
          </a:p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</a:p>
        </p:txBody>
      </p:sp>
      <p:grpSp>
        <p:nvGrpSpPr>
          <p:cNvPr name="Group 30" id="30"/>
          <p:cNvGrpSpPr/>
          <p:nvPr/>
        </p:nvGrpSpPr>
        <p:grpSpPr>
          <a:xfrm rot="5400000">
            <a:off x="2137176" y="1202778"/>
            <a:ext cx="1224824" cy="122482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26211" t="0" r="-126211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021465" y="1374205"/>
            <a:ext cx="1456246" cy="52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43"/>
              </a:lnSpc>
            </a:pPr>
            <a:r>
              <a:rPr lang="en-US" b="true" sz="307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75515" y="19633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42159" y="3981925"/>
            <a:ext cx="2323149" cy="232314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59318" y="4460805"/>
            <a:ext cx="1401662" cy="1378885"/>
          </a:xfrm>
          <a:custGeom>
            <a:avLst/>
            <a:gdLst/>
            <a:ahLst/>
            <a:cxnLst/>
            <a:rect r="r" b="b" t="t" l="l"/>
            <a:pathLst>
              <a:path h="1378885" w="1401662">
                <a:moveTo>
                  <a:pt x="0" y="0"/>
                </a:moveTo>
                <a:lnTo>
                  <a:pt x="1401662" y="0"/>
                </a:lnTo>
                <a:lnTo>
                  <a:pt x="1401662" y="1378885"/>
                </a:lnTo>
                <a:lnTo>
                  <a:pt x="0" y="1378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2459653" y="2362700"/>
            <a:ext cx="1943100" cy="110210"/>
            <a:chOff x="0" y="0"/>
            <a:chExt cx="511763" cy="290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1763" cy="29026"/>
            </a:xfrm>
            <a:custGeom>
              <a:avLst/>
              <a:gdLst/>
              <a:ahLst/>
              <a:cxnLst/>
              <a:rect r="r" b="b" t="t" l="l"/>
              <a:pathLst>
                <a:path h="29026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29026"/>
                  </a:lnTo>
                  <a:lnTo>
                    <a:pt x="0" y="29026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11763" cy="76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243292" y="710370"/>
            <a:ext cx="9609032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</a:pPr>
            <a:r>
              <a:rPr lang="en-US" b="true" sz="537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THE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77533" y="1713926"/>
            <a:ext cx="9285283" cy="133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3"/>
              </a:lnSpc>
            </a:pPr>
            <a:r>
              <a:rPr lang="en-US" b="true" sz="3843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INFERPROMPT: MULTI-LAYER RISK ARCHITECTURE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54520" y="3085532"/>
            <a:ext cx="6086958" cy="570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65" indent="-295533" lvl="1">
              <a:lnSpc>
                <a:spcPts val="3777"/>
              </a:lnSpc>
              <a:buFont typeface="Arial"/>
              <a:buChar char="•"/>
            </a:pPr>
            <a:r>
              <a:rPr lang="en-US" sz="273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🤖 Multiple Independent LLMs analyzing the same transaction</a:t>
            </a:r>
          </a:p>
          <a:p>
            <a:pPr algn="l" marL="591065" indent="-295533" lvl="1">
              <a:lnSpc>
                <a:spcPts val="3777"/>
              </a:lnSpc>
              <a:buFont typeface="Arial"/>
              <a:buChar char="•"/>
            </a:pPr>
            <a:r>
              <a:rPr lang="en-US" sz="273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🔢 Transparent Deterministic Risk Baseline (rule-based, explainable)</a:t>
            </a:r>
          </a:p>
          <a:p>
            <a:pPr algn="l" marL="591065" indent="-295533" lvl="1">
              <a:lnSpc>
                <a:spcPts val="3777"/>
              </a:lnSpc>
              <a:buFont typeface="Arial"/>
              <a:buChar char="•"/>
            </a:pPr>
            <a:r>
              <a:rPr lang="en-US" sz="273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✅ Evidence Validation against canonical merchant &amp; MCC data</a:t>
            </a:r>
          </a:p>
          <a:p>
            <a:pPr algn="l" marL="591065" indent="-295533" lvl="1">
              <a:lnSpc>
                <a:spcPts val="3777"/>
              </a:lnSpc>
              <a:buFont typeface="Arial"/>
              <a:buChar char="•"/>
            </a:pPr>
            <a:r>
              <a:rPr lang="en-US" sz="273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📊 Consensus Analytics measuring agreement across models</a:t>
            </a:r>
          </a:p>
          <a:p>
            <a:pPr algn="l" marL="591065" indent="-295533" lvl="1">
              <a:lnSpc>
                <a:spcPts val="3777"/>
              </a:lnSpc>
              <a:buFont typeface="Arial"/>
              <a:buChar char="•"/>
            </a:pPr>
            <a:r>
              <a:rPr lang="en-US" sz="273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🔍 ABTD Reasoning Comparison for explainability</a:t>
            </a:r>
          </a:p>
          <a:p>
            <a:pPr algn="l" marL="591065" indent="-295533" lvl="1">
              <a:lnSpc>
                <a:spcPts val="3777"/>
              </a:lnSpc>
              <a:buFont typeface="Arial"/>
              <a:buChar char="•"/>
            </a:pPr>
            <a:r>
              <a:rPr lang="en-US" sz="273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⚖️ Final Decision Engine: hard evidence overrides AI opinion</a:t>
            </a: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1495781" y="1238523"/>
            <a:ext cx="1224824" cy="12248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80070" y="1381375"/>
            <a:ext cx="1456246" cy="84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3"/>
              </a:lnSpc>
            </a:pPr>
            <a:r>
              <a:rPr lang="en-US" b="true" sz="493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86308" y="8835145"/>
            <a:ext cx="10736677" cy="78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8"/>
              </a:lnSpc>
            </a:pPr>
            <a:r>
              <a:rPr lang="en-US" b="true" sz="225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"AI PROVIDES AN OPINION. EVIDENCE PROVIDES THE TRUTH. INFERPROMPT COMBINES BOTH."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284619" y="232081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704525" y="1921821"/>
            <a:ext cx="1753477" cy="100505"/>
            <a:chOff x="0" y="0"/>
            <a:chExt cx="461821" cy="264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1821" cy="26470"/>
            </a:xfrm>
            <a:custGeom>
              <a:avLst/>
              <a:gdLst/>
              <a:ahLst/>
              <a:cxnLst/>
              <a:rect r="r" b="b" t="t" l="l"/>
              <a:pathLst>
                <a:path h="26470" w="461821">
                  <a:moveTo>
                    <a:pt x="0" y="0"/>
                  </a:moveTo>
                  <a:lnTo>
                    <a:pt x="461821" y="0"/>
                  </a:lnTo>
                  <a:lnTo>
                    <a:pt x="461821" y="26470"/>
                  </a:lnTo>
                  <a:lnTo>
                    <a:pt x="0" y="26470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61821" cy="7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885546" y="1264286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249696" y="2448571"/>
            <a:ext cx="4598194" cy="7327799"/>
          </a:xfrm>
          <a:custGeom>
            <a:avLst/>
            <a:gdLst/>
            <a:ahLst/>
            <a:cxnLst/>
            <a:rect r="r" b="b" t="t" l="l"/>
            <a:pathLst>
              <a:path h="7327799" w="4598194">
                <a:moveTo>
                  <a:pt x="0" y="0"/>
                </a:moveTo>
                <a:lnTo>
                  <a:pt x="4598194" y="0"/>
                </a:lnTo>
                <a:lnTo>
                  <a:pt x="4598194" y="7327799"/>
                </a:lnTo>
                <a:lnTo>
                  <a:pt x="0" y="7327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598002" y="895623"/>
            <a:ext cx="1049977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HOW IT WORKS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9835" y="1407138"/>
            <a:ext cx="1456246" cy="84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3"/>
              </a:lnSpc>
            </a:pPr>
            <a:r>
              <a:rPr lang="en-US" b="true" sz="493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71151" y="4309585"/>
            <a:ext cx="1867358" cy="18673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51050" y="4594610"/>
            <a:ext cx="1333353" cy="1273353"/>
          </a:xfrm>
          <a:custGeom>
            <a:avLst/>
            <a:gdLst/>
            <a:ahLst/>
            <a:cxnLst/>
            <a:rect r="r" b="b" t="t" l="l"/>
            <a:pathLst>
              <a:path h="1273353" w="1333353">
                <a:moveTo>
                  <a:pt x="0" y="0"/>
                </a:moveTo>
                <a:lnTo>
                  <a:pt x="1333354" y="0"/>
                </a:lnTo>
                <a:lnTo>
                  <a:pt x="1333354" y="1273352"/>
                </a:lnTo>
                <a:lnTo>
                  <a:pt x="0" y="1273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764922" y="4209821"/>
            <a:ext cx="1867358" cy="18673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226081" y="4524480"/>
            <a:ext cx="858276" cy="1479115"/>
          </a:xfrm>
          <a:custGeom>
            <a:avLst/>
            <a:gdLst/>
            <a:ahLst/>
            <a:cxnLst/>
            <a:rect r="r" b="b" t="t" l="l"/>
            <a:pathLst>
              <a:path h="1479115" w="858276">
                <a:moveTo>
                  <a:pt x="0" y="0"/>
                </a:moveTo>
                <a:lnTo>
                  <a:pt x="858276" y="0"/>
                </a:lnTo>
                <a:lnTo>
                  <a:pt x="858276" y="1479115"/>
                </a:lnTo>
                <a:lnTo>
                  <a:pt x="0" y="1479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94247" y="88894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17515" y="1734879"/>
            <a:ext cx="6134277" cy="61342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140913" y="1557132"/>
            <a:ext cx="7297240" cy="152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0"/>
              </a:lnSpc>
            </a:pPr>
            <a:r>
              <a:rPr lang="en-US" b="true" sz="502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TRANSACTION INTELLIGENCE: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517515" y="2417844"/>
            <a:ext cx="6134277" cy="6134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93248" y="1510467"/>
            <a:ext cx="5216826" cy="79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1"/>
              </a:lnSpc>
              <a:spcBef>
                <a:spcPct val="0"/>
              </a:spcBef>
            </a:pPr>
            <a:r>
              <a:rPr lang="en-US" b="true" sz="4602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Inputs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0458" y="3015960"/>
            <a:ext cx="11054977" cy="31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b="true" sz="354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📥 Core Transaction Fields: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b="true" sz="354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 </a:t>
            </a: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Amount, currency, country, timestamp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Merchant verification + MCC code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Merchant age + payment method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KYC status + payment verification</a:t>
            </a: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1674649" y="1337924"/>
            <a:ext cx="1224824" cy="12248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58938" y="1480776"/>
            <a:ext cx="1456246" cy="84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3"/>
              </a:lnSpc>
            </a:pPr>
            <a:r>
              <a:rPr lang="en-US" b="true" sz="493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0458" y="6245861"/>
            <a:ext cx="11054977" cy="311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b="true" sz="354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🔍 Contextual Signals: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b="true" sz="354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• </a:t>
            </a: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Device fingerprint + failed attempts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Previous transaction history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IP country vs user country mismatch</a:t>
            </a:r>
          </a:p>
          <a:p>
            <a:pPr algn="l" marL="0" indent="0" lvl="0">
              <a:lnSpc>
                <a:spcPts val="4897"/>
              </a:lnSpc>
              <a:spcBef>
                <a:spcPct val="0"/>
              </a:spcBef>
            </a:pPr>
            <a:r>
              <a:rPr lang="en-US" sz="354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Offer context + behavioral metadata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2902" y="150508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1"/>
                </a:lnTo>
                <a:lnTo>
                  <a:pt x="0" y="1006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56821" y="75452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0" t="-161" r="0" b="-1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086541" y="0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650427" y="75452"/>
            <a:ext cx="12010783" cy="10400796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87199" y="2233655"/>
            <a:ext cx="11076344" cy="339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📊 Risk Factors (Prototype Heuristic)</a:t>
            </a:r>
          </a:p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🖥️ New device detected</a:t>
            </a:r>
          </a:p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❌ Multiple failed attempts</a:t>
            </a:r>
          </a:p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🆕 New / unverified merchant</a:t>
            </a:r>
          </a:p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📍 Location mismatch (IP vs country)</a:t>
            </a:r>
          </a:p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🌙 Night-time transaction</a:t>
            </a:r>
          </a:p>
          <a:p>
            <a:pPr algn="l" marL="0" indent="0" lvl="0">
              <a:lnSpc>
                <a:spcPts val="3804"/>
              </a:lnSpc>
            </a:pPr>
            <a:r>
              <a:rPr lang="en-US" sz="2756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💰 Amount anomaly detected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6417309" y="1645890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6480591" y="8837304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63544" y="7799071"/>
            <a:ext cx="2374761" cy="3392515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548302" y="842062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32591" y="984914"/>
            <a:ext cx="1456246" cy="84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7"/>
              </a:lnSpc>
            </a:pPr>
            <a:r>
              <a:rPr lang="en-US" b="true" sz="494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88836" y="1019175"/>
            <a:ext cx="1593718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4"/>
              </a:lnSpc>
            </a:pPr>
            <a:r>
              <a:rPr lang="en-US" b="true" sz="60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INFERPROMPT RISK SCORE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2941" y="5767270"/>
            <a:ext cx="11076344" cy="242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8"/>
              </a:lnSpc>
            </a:pPr>
            <a:r>
              <a:rPr lang="en-US" sz="2760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🚦 Thresholds &amp; Actions</a:t>
            </a:r>
          </a:p>
          <a:p>
            <a:pPr algn="l" marL="0" indent="0" lvl="0">
              <a:lnSpc>
                <a:spcPts val="3808"/>
              </a:lnSpc>
            </a:pPr>
            <a:r>
              <a:rPr lang="en-US" sz="2760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LOW (0–30) → ✅ ALLOW</a:t>
            </a:r>
          </a:p>
          <a:p>
            <a:pPr algn="l" marL="0" indent="0" lvl="0">
              <a:lnSpc>
                <a:spcPts val="3808"/>
              </a:lnSpc>
            </a:pPr>
            <a:r>
              <a:rPr lang="en-US" sz="2760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MEDIUM (31–60) → 🔍 REVIEW</a:t>
            </a:r>
          </a:p>
          <a:p>
            <a:pPr algn="l" marL="0" indent="0" lvl="0">
              <a:lnSpc>
                <a:spcPts val="3808"/>
              </a:lnSpc>
            </a:pPr>
            <a:r>
              <a:rPr lang="en-US" sz="2760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HIGH (61–80) → ⚠️ REVIEW / BLOCK</a:t>
            </a:r>
          </a:p>
          <a:p>
            <a:pPr algn="l" marL="0" indent="0" lvl="0">
              <a:lnSpc>
                <a:spcPts val="3808"/>
              </a:lnSpc>
            </a:pPr>
            <a:r>
              <a:rPr lang="en-US" sz="2760" spc="270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CRITICAL (81–100) → 🚫 BLOCK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93131" y="8342602"/>
            <a:ext cx="13645173" cy="96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  <a:spcBef>
                <a:spcPct val="0"/>
              </a:spcBef>
            </a:pPr>
            <a:r>
              <a:rPr lang="en-US" b="true" sz="2731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⚠️ DISCLAIMER: THIS IS A TRANSPARENT, RULE-BASED PROTOTYPE HEURISTIC — NOT A PRODUCTION-CERTIFIED FRAUD DETECTION MODEL.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10806" y="75452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2" y="1717521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7042" y="1195545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754966" y="411404"/>
            <a:ext cx="1277806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8"/>
              </a:lnSpc>
              <a:spcBef>
                <a:spcPct val="0"/>
              </a:spcBef>
            </a:pPr>
            <a:r>
              <a:rPr lang="en-US" b="true" sz="60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WHAT IS ABTD?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24905" y="974380"/>
            <a:ext cx="1183994" cy="1224824"/>
            <a:chOff x="0" y="0"/>
            <a:chExt cx="785705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5705" cy="812800"/>
            </a:xfrm>
            <a:custGeom>
              <a:avLst/>
              <a:gdLst/>
              <a:ahLst/>
              <a:cxnLst/>
              <a:rect r="r" b="b" t="t" l="l"/>
              <a:pathLst>
                <a:path h="812800" w="785705">
                  <a:moveTo>
                    <a:pt x="392853" y="0"/>
                  </a:moveTo>
                  <a:cubicBezTo>
                    <a:pt x="175886" y="0"/>
                    <a:pt x="0" y="181951"/>
                    <a:pt x="0" y="406400"/>
                  </a:cubicBezTo>
                  <a:cubicBezTo>
                    <a:pt x="0" y="630849"/>
                    <a:pt x="175886" y="812800"/>
                    <a:pt x="392853" y="812800"/>
                  </a:cubicBezTo>
                  <a:cubicBezTo>
                    <a:pt x="609819" y="812800"/>
                    <a:pt x="785705" y="630849"/>
                    <a:pt x="785705" y="406400"/>
                  </a:cubicBezTo>
                  <a:cubicBezTo>
                    <a:pt x="785705" y="181951"/>
                    <a:pt x="609819" y="0"/>
                    <a:pt x="392853" y="0"/>
                  </a:cubicBezTo>
                  <a:close/>
                </a:path>
              </a:pathLst>
            </a:custGeom>
            <a:blipFill>
              <a:blip r:embed="rId2"/>
              <a:stretch>
                <a:fillRect l="-132288" t="0" r="-13228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88779" y="1170610"/>
            <a:ext cx="1456246" cy="75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99"/>
              </a:lnSpc>
            </a:pPr>
            <a:r>
              <a:rPr lang="en-US" b="true" sz="441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3068" y="2019261"/>
            <a:ext cx="14304217" cy="829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3"/>
              </a:lnSpc>
            </a:pPr>
            <a:r>
              <a:rPr lang="en-US" sz="275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  <a:p>
            <a:pPr algn="ctr">
              <a:lnSpc>
                <a:spcPts val="3853"/>
              </a:lnSpc>
            </a:pPr>
            <a:r>
              <a:rPr lang="en-US" sz="275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Traditional LCS compares complete token sequences with O(n·m) time and space. Long LLM reasoning outputs can therefore become expensive to compare.</a:t>
            </a:r>
          </a:p>
          <a:p>
            <a:pPr algn="l">
              <a:lnSpc>
                <a:spcPts val="3433"/>
              </a:lnSpc>
            </a:pP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How </a:t>
            </a: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ABTD Works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1. Tokenize — O(n + m)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Split text into word and punctuation tokens using /\w+|[^\w\s]/g.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 Build Frequency Maps — O(n + m)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Count occurrences of every token in both outputs.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Find Unique Anchors — O(n + m)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Identify tokens appearing exactly once in both texts.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These provide unambiguous synchronization points.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 Order Anchors with LIS — O(k log k)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Longest Increasing Subsequence prevents crossing/invalid token alignments.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5. Diff Between Anchors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Apply LCS only to the smaller segments between anchors.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6. LCS Fallback</a:t>
            </a:r>
          </a:p>
          <a:p>
            <a:pPr algn="l">
              <a:lnSpc>
                <a:spcPts val="3433"/>
              </a:lnSpc>
            </a:pPr>
            <a:r>
              <a:rPr lang="en-US" sz="24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If no useful anchors exist, ABTD gracefully falls back to classic LCS.</a:t>
            </a:r>
          </a:p>
          <a:p>
            <a:pPr algn="l">
              <a:lnSpc>
                <a:spcPts val="343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45025" y="1161085"/>
            <a:ext cx="127780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Anchor-Based Token Diff (ABTD)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91606" y="189103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6575" y="-148957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766869" y="1477050"/>
            <a:ext cx="7399542" cy="189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8"/>
              </a:lnSpc>
              <a:spcBef>
                <a:spcPct val="0"/>
              </a:spcBef>
            </a:pPr>
            <a:r>
              <a:rPr lang="en-US" b="true" sz="622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EVIDENCE VALIDATION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543681" y="1640457"/>
            <a:ext cx="4904260" cy="7006086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89" t="0" r="-89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1480657"/>
            <a:ext cx="1456246" cy="77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2"/>
              </a:lnSpc>
            </a:pPr>
            <a:r>
              <a:rPr lang="en-US" b="true" sz="452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2441" y="3824816"/>
            <a:ext cx="5070536" cy="424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Supported Evidence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MCC 5814 = Fast Food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Bidi merchant verified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Wallet payment method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KYC status: verified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 Merchant age: known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94392" y="3824816"/>
            <a:ext cx="6168106" cy="302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❌ Rejected Claims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"Tobacco-related Business"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No canonical support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"High-risk merchant"</a:t>
            </a:r>
          </a:p>
          <a:p>
            <a:pPr algn="l" marL="0" indent="0" lvl="0">
              <a:lnSpc>
                <a:spcPts val="4840"/>
              </a:lnSpc>
            </a:pPr>
            <a:r>
              <a:rPr lang="en-US" b="true" sz="345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Contradicts KYC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35501" y="3303044"/>
            <a:ext cx="2358891" cy="58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40"/>
              </a:lnSpc>
            </a:pPr>
            <a:r>
              <a:rPr lang="en-US" b="true" sz="3457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⚖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25076" y="19633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813543" y="2224161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2152510" y="1454474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008970" y="2963505"/>
            <a:ext cx="4142806" cy="6615259"/>
          </a:xfrm>
          <a:custGeom>
            <a:avLst/>
            <a:gdLst/>
            <a:ahLst/>
            <a:cxnLst/>
            <a:rect r="r" b="b" t="t" l="l"/>
            <a:pathLst>
              <a:path h="6615259" w="4142806">
                <a:moveTo>
                  <a:pt x="0" y="0"/>
                </a:moveTo>
                <a:lnTo>
                  <a:pt x="4142806" y="0"/>
                </a:lnTo>
                <a:lnTo>
                  <a:pt x="4142806" y="6615260"/>
                </a:lnTo>
                <a:lnTo>
                  <a:pt x="0" y="6615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49821" y="711501"/>
            <a:ext cx="10499776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6"/>
              </a:lnSpc>
            </a:pPr>
            <a:r>
              <a:rPr lang="en-US" b="true" sz="6422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FINAL DECISION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36799" y="1597326"/>
            <a:ext cx="1456246" cy="84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3"/>
              </a:lnSpc>
            </a:pPr>
            <a:r>
              <a:rPr lang="en-US" b="true" sz="493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10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532901" y="4217945"/>
            <a:ext cx="1867358" cy="18673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946468" y="4532402"/>
            <a:ext cx="1040225" cy="1238443"/>
          </a:xfrm>
          <a:custGeom>
            <a:avLst/>
            <a:gdLst/>
            <a:ahLst/>
            <a:cxnLst/>
            <a:rect r="r" b="b" t="t" l="l"/>
            <a:pathLst>
              <a:path h="1238443" w="1040225">
                <a:moveTo>
                  <a:pt x="0" y="0"/>
                </a:moveTo>
                <a:lnTo>
                  <a:pt x="1040225" y="0"/>
                </a:lnTo>
                <a:lnTo>
                  <a:pt x="1040225" y="1238444"/>
                </a:lnTo>
                <a:lnTo>
                  <a:pt x="0" y="123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764922" y="4209821"/>
            <a:ext cx="1867358" cy="18673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171287" y="4621489"/>
            <a:ext cx="1065960" cy="1060270"/>
          </a:xfrm>
          <a:custGeom>
            <a:avLst/>
            <a:gdLst/>
            <a:ahLst/>
            <a:cxnLst/>
            <a:rect r="r" b="b" t="t" l="l"/>
            <a:pathLst>
              <a:path h="1060270" w="1065960">
                <a:moveTo>
                  <a:pt x="0" y="0"/>
                </a:moveTo>
                <a:lnTo>
                  <a:pt x="1065960" y="0"/>
                </a:lnTo>
                <a:lnTo>
                  <a:pt x="1065960" y="1060270"/>
                </a:lnTo>
                <a:lnTo>
                  <a:pt x="0" y="1060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43963" y="88973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646224" y="2057590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2016036" y="1080164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206992" y="2294277"/>
            <a:ext cx="2953948" cy="7647763"/>
          </a:xfrm>
          <a:custGeom>
            <a:avLst/>
            <a:gdLst/>
            <a:ahLst/>
            <a:cxnLst/>
            <a:rect r="r" b="b" t="t" l="l"/>
            <a:pathLst>
              <a:path h="7647763" w="2953948">
                <a:moveTo>
                  <a:pt x="0" y="0"/>
                </a:moveTo>
                <a:lnTo>
                  <a:pt x="2953948" y="0"/>
                </a:lnTo>
                <a:lnTo>
                  <a:pt x="2953948" y="7647762"/>
                </a:lnTo>
                <a:lnTo>
                  <a:pt x="0" y="7647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38733" y="1019175"/>
            <a:ext cx="1049977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LIVE DEMO SCENARIO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0325" y="1223016"/>
            <a:ext cx="1456246" cy="84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3"/>
              </a:lnSpc>
            </a:pPr>
            <a:r>
              <a:rPr lang="en-US" b="true" sz="493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71151" y="4309585"/>
            <a:ext cx="1867358" cy="18673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197361" y="4762673"/>
            <a:ext cx="1024068" cy="970483"/>
          </a:xfrm>
          <a:custGeom>
            <a:avLst/>
            <a:gdLst/>
            <a:ahLst/>
            <a:cxnLst/>
            <a:rect r="r" b="b" t="t" l="l"/>
            <a:pathLst>
              <a:path h="970483" w="1024068">
                <a:moveTo>
                  <a:pt x="0" y="0"/>
                </a:moveTo>
                <a:lnTo>
                  <a:pt x="1024067" y="0"/>
                </a:lnTo>
                <a:lnTo>
                  <a:pt x="1024067" y="970483"/>
                </a:lnTo>
                <a:lnTo>
                  <a:pt x="0" y="970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764922" y="4209821"/>
            <a:ext cx="1867358" cy="18673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0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363652" y="4632752"/>
            <a:ext cx="676626" cy="1025191"/>
          </a:xfrm>
          <a:custGeom>
            <a:avLst/>
            <a:gdLst/>
            <a:ahLst/>
            <a:cxnLst/>
            <a:rect r="r" b="b" t="t" l="l"/>
            <a:pathLst>
              <a:path h="1025191" w="676626">
                <a:moveTo>
                  <a:pt x="0" y="0"/>
                </a:moveTo>
                <a:lnTo>
                  <a:pt x="676627" y="0"/>
                </a:lnTo>
                <a:lnTo>
                  <a:pt x="676627" y="1025191"/>
                </a:lnTo>
                <a:lnTo>
                  <a:pt x="0" y="1025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03536" y="160424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07630" y="386572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507630" y="1176359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559151" y="2594721"/>
            <a:ext cx="11038117" cy="373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🔐 Security &amp; Auth</a:t>
            </a:r>
          </a:p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🛡️ JWT Authentication:</a:t>
            </a:r>
          </a:p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MongoDB-backed user isolation</a:t>
            </a:r>
          </a:p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Atomic credits system</a:t>
            </a:r>
          </a:p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💳 Razorpay Test Mode:</a:t>
            </a:r>
          </a:p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Idempotent payment handling</a:t>
            </a:r>
          </a:p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• Webhook-safe transactions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559151" y="1166834"/>
            <a:ext cx="1110922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79"/>
              </a:lnSpc>
            </a:pPr>
            <a:r>
              <a:rPr lang="en-US" b="true" sz="656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PLATFORM &amp; RELIABILITY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3119244" y="1176359"/>
            <a:ext cx="1224824" cy="12248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7822" y="1315929"/>
            <a:ext cx="1456246" cy="84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7"/>
              </a:lnSpc>
            </a:pPr>
            <a:r>
              <a:rPr lang="en-US" b="true" sz="494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44068" y="6750648"/>
            <a:ext cx="11038117" cy="27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4"/>
              </a:lnSpc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⚙️ Infrastructure Features</a:t>
            </a:r>
          </a:p>
          <a:p>
            <a:pPr algn="l" marL="723865" indent="-361932" lvl="1">
              <a:lnSpc>
                <a:spcPts val="4224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SSE streaming for real-time responses</a:t>
            </a:r>
          </a:p>
          <a:p>
            <a:pPr algn="l" marL="723865" indent="-361932" lvl="1">
              <a:lnSpc>
                <a:spcPts val="4224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Analytics &amp; usage tracking</a:t>
            </a:r>
          </a:p>
          <a:p>
            <a:pPr algn="l" marL="723865" indent="-361932" lvl="1">
              <a:lnSpc>
                <a:spcPts val="4224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Bounded history per user session</a:t>
            </a:r>
          </a:p>
          <a:p>
            <a:pPr algn="l" marL="723865" indent="-361932" lvl="1">
              <a:lnSpc>
                <a:spcPts val="4224"/>
              </a:lnSpc>
              <a:buFont typeface="Arial"/>
              <a:buChar char="•"/>
            </a:pPr>
            <a:r>
              <a:rPr lang="en-US" sz="335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Scalable multi-tenant architecture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70834" y="169918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1"/>
                </a:lnTo>
                <a:lnTo>
                  <a:pt x="0" y="1006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2" y="1717521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767" y="4039897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29535" y="1287001"/>
            <a:ext cx="1063223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88"/>
              </a:lnSpc>
              <a:spcBef>
                <a:spcPct val="0"/>
              </a:spcBef>
            </a:pPr>
            <a:r>
              <a:rPr lang="en-US" b="true" sz="60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WHY INFERPROMPT 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348603" y="2912898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2597709" y="1156462"/>
            <a:ext cx="1224824" cy="1235521"/>
            <a:chOff x="0" y="0"/>
            <a:chExt cx="812800" cy="8198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9899"/>
            </a:xfrm>
            <a:custGeom>
              <a:avLst/>
              <a:gdLst/>
              <a:ahLst/>
              <a:cxnLst/>
              <a:rect r="r" b="b" t="t" l="l"/>
              <a:pathLst>
                <a:path h="819899" w="812800">
                  <a:moveTo>
                    <a:pt x="406400" y="0"/>
                  </a:moveTo>
                  <a:cubicBezTo>
                    <a:pt x="181951" y="0"/>
                    <a:pt x="0" y="183541"/>
                    <a:pt x="0" y="409949"/>
                  </a:cubicBezTo>
                  <a:cubicBezTo>
                    <a:pt x="0" y="636358"/>
                    <a:pt x="181951" y="819899"/>
                    <a:pt x="406400" y="819899"/>
                  </a:cubicBezTo>
                  <a:cubicBezTo>
                    <a:pt x="630849" y="819899"/>
                    <a:pt x="812800" y="636358"/>
                    <a:pt x="812800" y="409949"/>
                  </a:cubicBezTo>
                  <a:cubicBezTo>
                    <a:pt x="812800" y="18354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7750" t="0" r="-12775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358917" y="1238344"/>
            <a:ext cx="1468964" cy="70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64"/>
              </a:lnSpc>
            </a:pPr>
            <a:r>
              <a:rPr lang="en-US" b="true" sz="4031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13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68110" y="2846223"/>
            <a:ext cx="5638133" cy="547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5"/>
              </a:lnSpc>
            </a:pPr>
            <a:r>
              <a:rPr lang="en-US" b="true" sz="3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⚠️ Naive Approach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Transaction → LLM → Decision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Single model, no validation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Opaque reasoning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evidence grounding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Blind trust in AI output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disagreement detection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explainability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Hallucinated merchant data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Inconsistent risk scores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45654" y="2846223"/>
            <a:ext cx="8005442" cy="547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35"/>
              </a:lnSpc>
            </a:pPr>
            <a:r>
              <a:rPr lang="en-US" b="true" sz="338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InferPrompt Pipeline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Transaction → Evidence → Multi-LLM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Deterministic risk baseline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Evidence validation layer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Consensus analytics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ABTD reasoning comparison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Disagreement visibility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Full explainability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MCC-grounded merchant facts</a:t>
            </a:r>
          </a:p>
          <a:p>
            <a:pPr algn="l" marL="0" indent="0" lvl="0">
              <a:lnSpc>
                <a:spcPts val="4315"/>
              </a:lnSpc>
            </a:pPr>
            <a:r>
              <a:rPr lang="en-US" sz="30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Final decision engine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14759" y="155369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4532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1422087"/>
            <a:ext cx="18069351" cy="8060345"/>
          </a:xfrm>
          <a:custGeom>
            <a:avLst/>
            <a:gdLst/>
            <a:ahLst/>
            <a:cxnLst/>
            <a:rect r="r" b="b" t="t" l="l"/>
            <a:pathLst>
              <a:path h="8060345" w="18069351">
                <a:moveTo>
                  <a:pt x="0" y="0"/>
                </a:moveTo>
                <a:lnTo>
                  <a:pt x="18069351" y="0"/>
                </a:lnTo>
                <a:lnTo>
                  <a:pt x="18069351" y="8060345"/>
                </a:lnTo>
                <a:lnTo>
                  <a:pt x="0" y="8060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6" r="-655" b="-276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9495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9495" y="1306729"/>
            <a:ext cx="17809011" cy="8715285"/>
          </a:xfrm>
          <a:custGeom>
            <a:avLst/>
            <a:gdLst/>
            <a:ahLst/>
            <a:cxnLst/>
            <a:rect r="r" b="b" t="t" l="l"/>
            <a:pathLst>
              <a:path h="8715285" w="17809011">
                <a:moveTo>
                  <a:pt x="0" y="0"/>
                </a:moveTo>
                <a:lnTo>
                  <a:pt x="17809010" y="0"/>
                </a:lnTo>
                <a:lnTo>
                  <a:pt x="17809010" y="8715284"/>
                </a:lnTo>
                <a:lnTo>
                  <a:pt x="0" y="8715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88237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7175" y="1306729"/>
            <a:ext cx="17356730" cy="8709011"/>
          </a:xfrm>
          <a:custGeom>
            <a:avLst/>
            <a:gdLst/>
            <a:ahLst/>
            <a:cxnLst/>
            <a:rect r="r" b="b" t="t" l="l"/>
            <a:pathLst>
              <a:path h="8709011" w="17356730">
                <a:moveTo>
                  <a:pt x="0" y="0"/>
                </a:moveTo>
                <a:lnTo>
                  <a:pt x="17356730" y="0"/>
                </a:lnTo>
                <a:lnTo>
                  <a:pt x="17356730" y="8709011"/>
                </a:lnTo>
                <a:lnTo>
                  <a:pt x="0" y="87090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60" r="0" b="-26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33133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4118" y="1308207"/>
            <a:ext cx="18099763" cy="8235703"/>
          </a:xfrm>
          <a:custGeom>
            <a:avLst/>
            <a:gdLst/>
            <a:ahLst/>
            <a:cxnLst/>
            <a:rect r="r" b="b" t="t" l="l"/>
            <a:pathLst>
              <a:path h="8235703" w="18099763">
                <a:moveTo>
                  <a:pt x="0" y="0"/>
                </a:moveTo>
                <a:lnTo>
                  <a:pt x="18099764" y="0"/>
                </a:lnTo>
                <a:lnTo>
                  <a:pt x="18099764" y="8235703"/>
                </a:lnTo>
                <a:lnTo>
                  <a:pt x="0" y="8235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03" r="0" b="-1303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88237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80192" y="1306729"/>
            <a:ext cx="14327616" cy="8641233"/>
          </a:xfrm>
          <a:custGeom>
            <a:avLst/>
            <a:gdLst/>
            <a:ahLst/>
            <a:cxnLst/>
            <a:rect r="r" b="b" t="t" l="l"/>
            <a:pathLst>
              <a:path h="8641233" w="14327616">
                <a:moveTo>
                  <a:pt x="0" y="0"/>
                </a:moveTo>
                <a:lnTo>
                  <a:pt x="14327616" y="0"/>
                </a:lnTo>
                <a:lnTo>
                  <a:pt x="14327616" y="8641232"/>
                </a:lnTo>
                <a:lnTo>
                  <a:pt x="0" y="8641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846" r="0" b="-9846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10685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1969" y="1308207"/>
            <a:ext cx="16438080" cy="8537528"/>
          </a:xfrm>
          <a:custGeom>
            <a:avLst/>
            <a:gdLst/>
            <a:ahLst/>
            <a:cxnLst/>
            <a:rect r="r" b="b" t="t" l="l"/>
            <a:pathLst>
              <a:path h="8537528" w="16438080">
                <a:moveTo>
                  <a:pt x="0" y="0"/>
                </a:moveTo>
                <a:lnTo>
                  <a:pt x="16438081" y="0"/>
                </a:lnTo>
                <a:lnTo>
                  <a:pt x="16438081" y="8537528"/>
                </a:lnTo>
                <a:lnTo>
                  <a:pt x="0" y="8537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3340" y="115205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7" y="0"/>
                </a:lnTo>
                <a:lnTo>
                  <a:pt x="4288317" y="1006441"/>
                </a:lnTo>
                <a:lnTo>
                  <a:pt x="0" y="10064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2926" y="1465344"/>
            <a:ext cx="17561467" cy="8223306"/>
          </a:xfrm>
          <a:custGeom>
            <a:avLst/>
            <a:gdLst/>
            <a:ahLst/>
            <a:cxnLst/>
            <a:rect r="r" b="b" t="t" l="l"/>
            <a:pathLst>
              <a:path h="8223306" w="17561467">
                <a:moveTo>
                  <a:pt x="0" y="0"/>
                </a:moveTo>
                <a:lnTo>
                  <a:pt x="17561467" y="0"/>
                </a:lnTo>
                <a:lnTo>
                  <a:pt x="17561467" y="8223307"/>
                </a:lnTo>
                <a:lnTo>
                  <a:pt x="0" y="8223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71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213422" y="618425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88237" y="169116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2618" y="1465344"/>
            <a:ext cx="17282765" cy="8284925"/>
          </a:xfrm>
          <a:custGeom>
            <a:avLst/>
            <a:gdLst/>
            <a:ahLst/>
            <a:cxnLst/>
            <a:rect r="r" b="b" t="t" l="l"/>
            <a:pathLst>
              <a:path h="8284925" w="17282765">
                <a:moveTo>
                  <a:pt x="0" y="0"/>
                </a:moveTo>
                <a:lnTo>
                  <a:pt x="17282764" y="0"/>
                </a:lnTo>
                <a:lnTo>
                  <a:pt x="17282764" y="8284926"/>
                </a:lnTo>
                <a:lnTo>
                  <a:pt x="0" y="8284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85569" y="3956159"/>
            <a:ext cx="10309773" cy="171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92"/>
              </a:lnSpc>
            </a:pPr>
            <a:r>
              <a:rPr lang="en-US" sz="1006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79463" y="194015"/>
            <a:ext cx="4288317" cy="1006442"/>
          </a:xfrm>
          <a:custGeom>
            <a:avLst/>
            <a:gdLst/>
            <a:ahLst/>
            <a:cxnLst/>
            <a:rect r="r" b="b" t="t" l="l"/>
            <a:pathLst>
              <a:path h="1006442" w="4288317">
                <a:moveTo>
                  <a:pt x="0" y="0"/>
                </a:moveTo>
                <a:lnTo>
                  <a:pt x="4288316" y="0"/>
                </a:lnTo>
                <a:lnTo>
                  <a:pt x="4288316" y="1006442"/>
                </a:lnTo>
                <a:lnTo>
                  <a:pt x="0" y="10064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DAHTUqfSZyo</dc:identifier>
  <dcterms:modified xsi:type="dcterms:W3CDTF">2011-08-01T06:04:30Z</dcterms:modified>
  <cp:revision>1</cp:revision>
  <dc:title>InferPrompt: Evidence-Grounded Risk Intelligence</dc:title>
</cp:coreProperties>
</file>